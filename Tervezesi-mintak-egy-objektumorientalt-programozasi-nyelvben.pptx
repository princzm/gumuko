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 Bold" charset="1" panose="020B0704020202020204"/>
      <p:regular r:id="rId24"/>
    </p:embeddedFont>
    <p:embeddedFont>
      <p:font typeface="Arimo" charset="1" panose="020B0604020202020204"/>
      <p:regular r:id="rId25"/>
    </p:embeddedFont>
    <p:embeddedFont>
      <p:font typeface="Consolas" charset="1" panose="020B06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1864223"/>
            <a:ext cx="9445523" cy="448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Tervezési minták egy objektumorientált programozási nyelvben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671672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MVC és egyéb minták gyakorlati alkalmazása egy Amőba (Gomoku) projektben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7907388"/>
            <a:ext cx="9445523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Készítette: Princz Márió |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68388" y="477441"/>
            <a:ext cx="9035205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Mi az a tervezési minta?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388" y="1513284"/>
            <a:ext cx="8242697" cy="98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tervezési minta nem egy konkrét kód vagy könyvtár, hanem egy bevált, elegáns sablon, amely gyakran előforduló szoftvertervezési problémákra kínál általános megoldást. Ezek az absztrakt megoldások segítenek a rendszerek strukturálásában, anélkül, hogy a részletekre fókuszálnánk.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668388" y="2710901"/>
            <a:ext cx="8242697" cy="8242697"/>
          </a:xfrm>
          <a:custGeom>
            <a:avLst/>
            <a:gdLst/>
            <a:ahLst/>
            <a:cxnLst/>
            <a:rect r="r" b="b" t="t" l="l"/>
            <a:pathLst>
              <a:path h="8242697" w="8242697">
                <a:moveTo>
                  <a:pt x="0" y="0"/>
                </a:moveTo>
                <a:lnTo>
                  <a:pt x="8242697" y="0"/>
                </a:lnTo>
                <a:lnTo>
                  <a:pt x="8242697" y="8242697"/>
                </a:lnTo>
                <a:lnTo>
                  <a:pt x="0" y="824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86440" y="1561062"/>
            <a:ext cx="2387203" cy="33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Előnyei: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6440" y="2021834"/>
            <a:ext cx="8242697" cy="37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b="true" sz="1500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Újrafelhasználható megoldások:</a:t>
            </a:r>
            <a:r>
              <a:rPr lang="en-US" sz="15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Időt takarít meg és csökkenti a hibalehetőségeket.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6440" y="2394052"/>
            <a:ext cx="8242697" cy="37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b="true" sz="1500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Közös nyelv:</a:t>
            </a:r>
            <a:r>
              <a:rPr lang="en-US" sz="15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Segíti a kommunikációt és az együttműködést a fejlesztők között.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6440" y="2766270"/>
            <a:ext cx="8242697" cy="37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b="true" sz="1500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Karbantartható kód:</a:t>
            </a:r>
            <a:r>
              <a:rPr lang="en-US" sz="15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Javítja a kód olvashatóságát, rugalmasságát és bővíthetőségét.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86440" y="3138487"/>
            <a:ext cx="8242697" cy="37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b="true" sz="1500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Bevált gyakorlatok:</a:t>
            </a:r>
            <a:r>
              <a:rPr lang="en-US" sz="15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Tapasztalt fejlesztők által tesztelt és elfogadott megközelítések.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6440" y="3625158"/>
            <a:ext cx="8242697" cy="3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118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Gang of Four (GoF)</a:t>
            </a: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könyv (1994) 23 klasszikus mintát írt le, melyek a modern szoftverfejlesztés alapjait képezik.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981370"/>
            <a:ext cx="153934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Tervezési minták kategóriái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238" y="2916736"/>
            <a:ext cx="5245446" cy="4808039"/>
            <a:chOff x="0" y="0"/>
            <a:chExt cx="6993928" cy="6410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3890" cy="6410706"/>
            </a:xfrm>
            <a:custGeom>
              <a:avLst/>
              <a:gdLst/>
              <a:ahLst/>
              <a:cxnLst/>
              <a:rect r="r" b="b" t="t" l="l"/>
              <a:pathLst>
                <a:path h="64107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6166866"/>
                  </a:lnTo>
                  <a:cubicBezTo>
                    <a:pt x="6993890" y="6301486"/>
                    <a:pt x="6884670" y="6410706"/>
                    <a:pt x="6750050" y="6410706"/>
                  </a:cubicBezTo>
                  <a:lnTo>
                    <a:pt x="243840" y="6410706"/>
                  </a:lnTo>
                  <a:cubicBezTo>
                    <a:pt x="109220" y="6410706"/>
                    <a:pt x="0" y="6301486"/>
                    <a:pt x="0" y="6166866"/>
                  </a:cubicBez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2878636"/>
            <a:ext cx="5245446" cy="152400"/>
            <a:chOff x="0" y="0"/>
            <a:chExt cx="6993928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189608" y="2491530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3444697" y="274661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666" r="0" b="-1666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3859" y="3587353"/>
            <a:ext cx="46022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Létrehozási (Creational)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4576610"/>
            <a:ext cx="4602213" cy="28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Objektumok létrehozásának mechanizmusai, rugalmasságot biztosítva a programnak abban, hogy mely objektumokat hozza létre, mikor és hogyan (pl. Singleton, Factory Method).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1206" y="2916736"/>
            <a:ext cx="5245446" cy="4808039"/>
            <a:chOff x="0" y="0"/>
            <a:chExt cx="6993928" cy="6410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6410706"/>
            </a:xfrm>
            <a:custGeom>
              <a:avLst/>
              <a:gdLst/>
              <a:ahLst/>
              <a:cxnLst/>
              <a:rect r="r" b="b" t="t" l="l"/>
              <a:pathLst>
                <a:path h="64107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6166866"/>
                  </a:lnTo>
                  <a:cubicBezTo>
                    <a:pt x="6993890" y="6301486"/>
                    <a:pt x="6884670" y="6410706"/>
                    <a:pt x="6750050" y="6410706"/>
                  </a:cubicBezTo>
                  <a:lnTo>
                    <a:pt x="243840" y="6410706"/>
                  </a:lnTo>
                  <a:cubicBezTo>
                    <a:pt x="109220" y="6410706"/>
                    <a:pt x="0" y="6301486"/>
                    <a:pt x="0" y="6166866"/>
                  </a:cubicBez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21206" y="2878636"/>
            <a:ext cx="5245446" cy="152400"/>
            <a:chOff x="0" y="0"/>
            <a:chExt cx="6993928" cy="20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718575" y="2491530"/>
            <a:ext cx="850554" cy="850554"/>
            <a:chOff x="0" y="0"/>
            <a:chExt cx="1134072" cy="1134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8973664" y="274661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554" t="0" r="-555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42817" y="3587353"/>
            <a:ext cx="46022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Szerkezeti (Structural)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2817" y="4576610"/>
            <a:ext cx="4602213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Osztályok és objektumok kombinálása nagyobb struktúrákba, miközben rugalmasak és hatékonyak maradnak (pl. Adapter, Facade, Decorator).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50163" y="2916736"/>
            <a:ext cx="5245446" cy="4808039"/>
            <a:chOff x="0" y="0"/>
            <a:chExt cx="6993928" cy="64107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93890" cy="6410706"/>
            </a:xfrm>
            <a:custGeom>
              <a:avLst/>
              <a:gdLst/>
              <a:ahLst/>
              <a:cxnLst/>
              <a:rect r="r" b="b" t="t" l="l"/>
              <a:pathLst>
                <a:path h="64107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6166866"/>
                  </a:lnTo>
                  <a:cubicBezTo>
                    <a:pt x="6993890" y="6301486"/>
                    <a:pt x="6884670" y="6410706"/>
                    <a:pt x="6750050" y="6410706"/>
                  </a:cubicBezTo>
                  <a:lnTo>
                    <a:pt x="243840" y="6410706"/>
                  </a:lnTo>
                  <a:cubicBezTo>
                    <a:pt x="109220" y="6410706"/>
                    <a:pt x="0" y="6301486"/>
                    <a:pt x="0" y="6166866"/>
                  </a:cubicBez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050163" y="2878636"/>
            <a:ext cx="5245446" cy="152400"/>
            <a:chOff x="0" y="0"/>
            <a:chExt cx="6993928" cy="203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247543" y="2491530"/>
            <a:ext cx="850554" cy="850554"/>
            <a:chOff x="0" y="0"/>
            <a:chExt cx="1134072" cy="11340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4502632" y="274661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888" t="0" r="-13888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371784" y="3587353"/>
            <a:ext cx="46022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Viselkedési (Behavioral)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71784" y="4576610"/>
            <a:ext cx="4602213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Objektumok közötti kommunikációs minták, a felelősség delegálásának és az algoritmusok kapszulázásának módjai (pl. Strategy, Observer, Command).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92238" y="8043710"/>
            <a:ext cx="16303523" cy="1204760"/>
            <a:chOff x="0" y="0"/>
            <a:chExt cx="21738031" cy="16063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37955" cy="1606296"/>
            </a:xfrm>
            <a:custGeom>
              <a:avLst/>
              <a:gdLst/>
              <a:ahLst/>
              <a:cxnLst/>
              <a:rect r="r" b="b" t="t" l="l"/>
              <a:pathLst>
                <a:path h="1606296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447546"/>
                  </a:lnTo>
                  <a:cubicBezTo>
                    <a:pt x="21737955" y="1535176"/>
                    <a:pt x="21666836" y="1606296"/>
                    <a:pt x="21579205" y="1606296"/>
                  </a:cubicBezTo>
                  <a:lnTo>
                    <a:pt x="158750" y="1606296"/>
                  </a:lnTo>
                  <a:cubicBezTo>
                    <a:pt x="71120" y="1606296"/>
                    <a:pt x="0" y="1535176"/>
                    <a:pt x="0" y="1447546"/>
                  </a:cubicBezTo>
                  <a:close/>
                </a:path>
              </a:pathLst>
            </a:custGeom>
            <a:solidFill>
              <a:srgbClr val="3348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5" id="35" descr="preencoded.png"/>
          <p:cNvSpPr/>
          <p:nvPr/>
        </p:nvSpPr>
        <p:spPr>
          <a:xfrm flipH="false" flipV="false" rot="0">
            <a:off x="1275759" y="8464306"/>
            <a:ext cx="354359" cy="283521"/>
          </a:xfrm>
          <a:custGeom>
            <a:avLst/>
            <a:gdLst/>
            <a:ahLst/>
            <a:cxnLst/>
            <a:rect r="r" b="b" t="t" l="l"/>
            <a:pathLst>
              <a:path h="283521" w="354359">
                <a:moveTo>
                  <a:pt x="0" y="0"/>
                </a:moveTo>
                <a:lnTo>
                  <a:pt x="354359" y="0"/>
                </a:lnTo>
                <a:lnTo>
                  <a:pt x="354359" y="283521"/>
                </a:lnTo>
                <a:lnTo>
                  <a:pt x="0" y="283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71" r="0" b="-668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913630" y="8293303"/>
            <a:ext cx="1509861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 projektben használt minták:</a:t>
            </a: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MVC, Repository, Strategy, Facade, Singleton, Value Object.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27152" y="376085"/>
            <a:ext cx="8131522" cy="52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2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MVC (Model-View-Controller) architektúra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7152" y="1128865"/>
            <a:ext cx="17233697" cy="29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MVC egy architekturális minta, amely az alkalmazásokat három fő komponensre bontja a felelősségek szétválasztása érdekében.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527152" y="884777"/>
            <a:ext cx="17233697" cy="9549108"/>
          </a:xfrm>
          <a:custGeom>
            <a:avLst/>
            <a:gdLst/>
            <a:ahLst/>
            <a:cxnLst/>
            <a:rect r="r" b="b" t="t" l="l"/>
            <a:pathLst>
              <a:path h="9549108" w="17233697">
                <a:moveTo>
                  <a:pt x="0" y="0"/>
                </a:moveTo>
                <a:lnTo>
                  <a:pt x="17233696" y="0"/>
                </a:lnTo>
                <a:lnTo>
                  <a:pt x="17233696" y="9549108"/>
                </a:lnTo>
                <a:lnTo>
                  <a:pt x="0" y="954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" r="0" b="-3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87869" y="5181810"/>
            <a:ext cx="3639141" cy="144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MVC architektúra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87869" y="5630756"/>
            <a:ext cx="3639141" cy="79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Komponensek és felelősségek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02968" y="5419835"/>
            <a:ext cx="3808409" cy="49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08320" y="5886360"/>
            <a:ext cx="4197706" cy="4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Értesíti a nézetet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7514" y="7679058"/>
            <a:ext cx="3808409" cy="49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2866" y="8145583"/>
            <a:ext cx="4197706" cy="4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Küldi a felhasználói műveletet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6098" y="2155517"/>
            <a:ext cx="3808409" cy="49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Controller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1450" y="2622042"/>
            <a:ext cx="4197706" cy="4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Frissíti a modellt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7152" y="11446373"/>
            <a:ext cx="2177806" cy="25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Model (Modell)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152" y="11794179"/>
            <a:ext cx="5499049" cy="53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alkalmazás adatai és az üzleti logika. Nem tud a nézetről, független a felhasználói felülettől.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03029" y="11446373"/>
            <a:ext cx="1882978" cy="25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View (Nézet)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03029" y="11794179"/>
            <a:ext cx="5499049" cy="53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adatok megjelenítéséért és a felhasználói interakciók gyűjtéséért felelős. Nem tartalmaz üzleti logikát.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78916" y="11446373"/>
            <a:ext cx="2787406" cy="25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Controller (Vezérlő)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78916" y="11794179"/>
            <a:ext cx="5499049" cy="53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Összeköti a modellt és a nézetet. Feldolgozza a felhasználói bevitelt, frissíti a modellt és kiválasztja a megfelelő nézetet.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91315"/>
          </a:xfrm>
          <a:custGeom>
            <a:avLst/>
            <a:gdLst/>
            <a:ahLst/>
            <a:cxnLst/>
            <a:rect r="r" b="b" t="t" l="l"/>
            <a:pathLst>
              <a:path h="10291315" w="6858000">
                <a:moveTo>
                  <a:pt x="0" y="0"/>
                </a:moveTo>
                <a:lnTo>
                  <a:pt x="6858000" y="0"/>
                </a:lnTo>
                <a:lnTo>
                  <a:pt x="6858000" y="10291315"/>
                </a:lnTo>
                <a:lnTo>
                  <a:pt x="0" y="10291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" t="0" r="-2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7798" y="711098"/>
            <a:ext cx="9474403" cy="267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MVC a saját projektben: Mappastruktúra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798" y="3701501"/>
            <a:ext cx="9474403" cy="99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Java projekt mappaszerkezete szorosan követi az MVC elveit, tiszta felelősségi köröket meghatározva: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7798" y="4909547"/>
            <a:ext cx="9474403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b="true" sz="2187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model/:</a:t>
            </a: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Tartalmazza az alkalmazás alapvető adatstruktúráit és üzleti logikáját (pl. Board, Player osztályok).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798" y="5920235"/>
            <a:ext cx="9474403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b="true" sz="2187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ui/:</a:t>
            </a: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Kezeli a felhasználói felületet, jelen esetben a konzolos felületet (ConsoleUi).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798" y="6930923"/>
            <a:ext cx="9474403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b="true" sz="2187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engine/:</a:t>
            </a: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Az alkalmazás fő vezérlő logikáját, a játékmotor működését tartalmazza (GameEngine).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798" y="7941621"/>
            <a:ext cx="9474403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b="true" sz="2187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persistence/:</a:t>
            </a: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Az adatok tárolásáért és lekérdezéséért felelős komponensek (pl. HighScoreRepository).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798" y="8952309"/>
            <a:ext cx="9474403" cy="57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b="true" sz="2187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ai/:</a:t>
            </a: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 gépi játékosok stratégiáit és viselkedését valósítja meg (AiPlayer).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59594" y="411061"/>
            <a:ext cx="8148342" cy="52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A Model réteg részletesen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594" y="1256109"/>
            <a:ext cx="8389439" cy="57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Modell réteg az alkalmazás "agya". Felelőssége az adatok tárolása, kezelése és az üzleti szabályok érvényesítése. Teljesen független a felhasználói felülettől.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9594" y="1911248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Board: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 játéktábla NxM-es mátrixát reprezentálja, tartalmazza a mezők állapotát.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594" y="2222897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Player: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Egy játékos adatait (név, jel) tárolja.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9594" y="2534545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Position: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Egy koordinátapárt (sor, oszlop) ír le a táblán.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9594" y="2846184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HighScore: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Egy játékos elért pontszámát és nevét tartalmazza.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59594" y="3348333"/>
            <a:ext cx="8389439" cy="8389439"/>
          </a:xfrm>
          <a:custGeom>
            <a:avLst/>
            <a:gdLst/>
            <a:ahLst/>
            <a:cxnLst/>
            <a:rect r="r" b="b" t="t" l="l"/>
            <a:pathLst>
              <a:path h="8389439" w="8389439">
                <a:moveTo>
                  <a:pt x="0" y="0"/>
                </a:moveTo>
                <a:lnTo>
                  <a:pt x="8389439" y="0"/>
                </a:lnTo>
                <a:lnTo>
                  <a:pt x="8389439" y="8389439"/>
                </a:lnTo>
                <a:lnTo>
                  <a:pt x="0" y="838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48492" y="1319803"/>
            <a:ext cx="5236216" cy="26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Design Pattern: Value Object (VO)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8492" y="1681753"/>
            <a:ext cx="8389439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Position és HighScore osztályok Value Object-ként viselkednek. Ez azt jelenti, hogy: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48492" y="2090737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Immutable: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Létrehozás után az állapotuk nem változtatható.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8492" y="2402386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equals() és hashCode() felülírása: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Az értékük alapján azonosak, nem a memóriacímük alapján.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48492" y="2714034"/>
            <a:ext cx="8389439" cy="32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toString() felülírása:</a:t>
            </a:r>
            <a:r>
              <a:rPr lang="en-US" sz="1249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Olvasható reprezentációt biztosít.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48492" y="3216173"/>
            <a:ext cx="8389439" cy="3307852"/>
            <a:chOff x="0" y="0"/>
            <a:chExt cx="11185919" cy="44104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85906" cy="4410456"/>
            </a:xfrm>
            <a:custGeom>
              <a:avLst/>
              <a:gdLst/>
              <a:ahLst/>
              <a:cxnLst/>
              <a:rect r="r" b="b" t="t" l="l"/>
              <a:pathLst>
                <a:path h="4410456" w="11185906">
                  <a:moveTo>
                    <a:pt x="0" y="89535"/>
                  </a:moveTo>
                  <a:cubicBezTo>
                    <a:pt x="0" y="40132"/>
                    <a:pt x="40132" y="0"/>
                    <a:pt x="89535" y="0"/>
                  </a:cubicBezTo>
                  <a:lnTo>
                    <a:pt x="11096371" y="0"/>
                  </a:lnTo>
                  <a:cubicBezTo>
                    <a:pt x="11145774" y="0"/>
                    <a:pt x="11185906" y="40132"/>
                    <a:pt x="11185906" y="89535"/>
                  </a:cubicBezTo>
                  <a:lnTo>
                    <a:pt x="11185906" y="4320921"/>
                  </a:lnTo>
                  <a:cubicBezTo>
                    <a:pt x="11185906" y="4370324"/>
                    <a:pt x="11145774" y="4410456"/>
                    <a:pt x="11096371" y="4410456"/>
                  </a:cubicBezTo>
                  <a:lnTo>
                    <a:pt x="89535" y="4410456"/>
                  </a:lnTo>
                  <a:cubicBezTo>
                    <a:pt x="40132" y="4410456"/>
                    <a:pt x="0" y="4370324"/>
                    <a:pt x="0" y="4320921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40606" y="3216173"/>
            <a:ext cx="8405222" cy="3307852"/>
            <a:chOff x="0" y="0"/>
            <a:chExt cx="11206963" cy="4410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06988" cy="4410456"/>
            </a:xfrm>
            <a:custGeom>
              <a:avLst/>
              <a:gdLst/>
              <a:ahLst/>
              <a:cxnLst/>
              <a:rect r="r" b="b" t="t" l="l"/>
              <a:pathLst>
                <a:path h="4410456" w="11206988">
                  <a:moveTo>
                    <a:pt x="0" y="32004"/>
                  </a:moveTo>
                  <a:cubicBezTo>
                    <a:pt x="0" y="14351"/>
                    <a:pt x="14351" y="0"/>
                    <a:pt x="32004" y="0"/>
                  </a:cubicBezTo>
                  <a:lnTo>
                    <a:pt x="11174985" y="0"/>
                  </a:lnTo>
                  <a:cubicBezTo>
                    <a:pt x="11192637" y="0"/>
                    <a:pt x="11206988" y="14351"/>
                    <a:pt x="11206988" y="32004"/>
                  </a:cubicBezTo>
                  <a:lnTo>
                    <a:pt x="11206988" y="4378452"/>
                  </a:lnTo>
                  <a:cubicBezTo>
                    <a:pt x="11206988" y="4396105"/>
                    <a:pt x="11192637" y="4410456"/>
                    <a:pt x="11174985" y="4410456"/>
                  </a:cubicBezTo>
                  <a:lnTo>
                    <a:pt x="32004" y="4410456"/>
                  </a:lnTo>
                  <a:cubicBezTo>
                    <a:pt x="14351" y="4410456"/>
                    <a:pt x="0" y="4396105"/>
                    <a:pt x="0" y="4378452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500445" y="3259779"/>
            <a:ext cx="8085534" cy="314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class Position {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private final int row;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private final int col;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// ... konstruktor, getterek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public boolean equals(Object o) { ... }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public int hashCode() { ... }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public String toString() { ... }</a:t>
            </a:r>
          </a:p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113484"/>
          </a:xfrm>
          <a:custGeom>
            <a:avLst/>
            <a:gdLst/>
            <a:ahLst/>
            <a:cxnLst/>
            <a:rect r="r" b="b" t="t" l="l"/>
            <a:pathLst>
              <a:path h="3113484" w="18288000">
                <a:moveTo>
                  <a:pt x="0" y="0"/>
                </a:moveTo>
                <a:lnTo>
                  <a:pt x="18288000" y="0"/>
                </a:lnTo>
                <a:lnTo>
                  <a:pt x="18288000" y="3113484"/>
                </a:lnTo>
                <a:lnTo>
                  <a:pt x="0" y="311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" r="0" b="-1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1690" y="3948408"/>
            <a:ext cx="11664706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A View réteg: ConsoleUi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690" y="5052717"/>
            <a:ext cx="16544630" cy="90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View réteg, a ConsoleUi osztály felelős a felhasználói felülettel való interakcióért. KIZÁRÓLAG a megjelenítés és adatbekérés a feladata; semmilyen üzleti logika vagy döntéshozatal nem történik itt.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64997" y="6242371"/>
            <a:ext cx="373561" cy="373561"/>
          </a:xfrm>
          <a:custGeom>
            <a:avLst/>
            <a:gdLst/>
            <a:ahLst/>
            <a:cxnLst/>
            <a:rect r="r" b="b" t="t" l="l"/>
            <a:pathLst>
              <a:path h="373561" w="373561">
                <a:moveTo>
                  <a:pt x="0" y="0"/>
                </a:moveTo>
                <a:lnTo>
                  <a:pt x="373561" y="0"/>
                </a:lnTo>
                <a:lnTo>
                  <a:pt x="373561" y="373561"/>
                </a:lnTo>
                <a:lnTo>
                  <a:pt x="0" y="373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98" t="0" r="-750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1010" y="6215653"/>
            <a:ext cx="418877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Tábla kirajzolása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1010" y="6678063"/>
            <a:ext cx="7307313" cy="8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játéktábla aktuális állapotának vizuális megjelenítése a konzolon, figyelembe véve a játékosok lépéseit.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92993" y="6242371"/>
            <a:ext cx="373561" cy="373561"/>
          </a:xfrm>
          <a:custGeom>
            <a:avLst/>
            <a:gdLst/>
            <a:ahLst/>
            <a:cxnLst/>
            <a:rect r="r" b="b" t="t" l="l"/>
            <a:pathLst>
              <a:path h="373561" w="373561">
                <a:moveTo>
                  <a:pt x="0" y="0"/>
                </a:moveTo>
                <a:lnTo>
                  <a:pt x="373561" y="0"/>
                </a:lnTo>
                <a:lnTo>
                  <a:pt x="373561" y="373561"/>
                </a:lnTo>
                <a:lnTo>
                  <a:pt x="0" y="373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98" t="0" r="-750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08997" y="6215653"/>
            <a:ext cx="5386978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Játékos név bekérése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08997" y="6678063"/>
            <a:ext cx="7307313" cy="8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Felhasználói bemenet fogadása a játékosok neveinek megadására, ellenőrzés nélkül.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64997" y="8076228"/>
            <a:ext cx="373561" cy="373561"/>
          </a:xfrm>
          <a:custGeom>
            <a:avLst/>
            <a:gdLst/>
            <a:ahLst/>
            <a:cxnLst/>
            <a:rect r="r" b="b" t="t" l="l"/>
            <a:pathLst>
              <a:path h="373561" w="373561">
                <a:moveTo>
                  <a:pt x="0" y="0"/>
                </a:moveTo>
                <a:lnTo>
                  <a:pt x="373561" y="0"/>
                </a:lnTo>
                <a:lnTo>
                  <a:pt x="373561" y="373561"/>
                </a:lnTo>
                <a:lnTo>
                  <a:pt x="0" y="373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98" t="0" r="-750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81010" y="8049520"/>
            <a:ext cx="3686470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Menü kezelése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1010" y="8511931"/>
            <a:ext cx="7307313" cy="8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játék menüpontjainak megjelenítése és a felhasználó választásának bekérése.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92993" y="8076228"/>
            <a:ext cx="373561" cy="373561"/>
          </a:xfrm>
          <a:custGeom>
            <a:avLst/>
            <a:gdLst/>
            <a:ahLst/>
            <a:cxnLst/>
            <a:rect r="r" b="b" t="t" l="l"/>
            <a:pathLst>
              <a:path h="373561" w="373561">
                <a:moveTo>
                  <a:pt x="0" y="0"/>
                </a:moveTo>
                <a:lnTo>
                  <a:pt x="373561" y="0"/>
                </a:lnTo>
                <a:lnTo>
                  <a:pt x="373561" y="373561"/>
                </a:lnTo>
                <a:lnTo>
                  <a:pt x="0" y="373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98" t="0" r="-750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08997" y="8049520"/>
            <a:ext cx="7062492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Hibaüzenetek megjelenítése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8997" y="8511931"/>
            <a:ext cx="7307313" cy="8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Információk és hibaüzenetek közvetítése a felhasználó felé, pl. érvénytelen lépés esetén.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13312" y="384277"/>
            <a:ext cx="9134770" cy="4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A Controller réteg: GameEngine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3312" y="1156392"/>
            <a:ext cx="9332709" cy="52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GameEngine a projekt központi vezérlője, amely koordinálja a Model és a View közötti interakciókat. Ez az osztály implementálja a játékmenet logikáját és biztosítja a szabályok betartását.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3312" y="1757658"/>
            <a:ext cx="9332709" cy="29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664" indent="-84832" lvl="1">
              <a:lnSpc>
                <a:spcPts val="1812"/>
              </a:lnSpc>
              <a:buFont typeface="Arial"/>
              <a:buChar char="•"/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lepes(Position)</a:t>
            </a:r>
            <a:r>
              <a:rPr lang="en-US" b="true" sz="1124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Érvényesíti a játékos lépését, ellenőrzi a mező foglaltságát és frissíti a játéktáblát.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312" y="2043560"/>
            <a:ext cx="9332709" cy="29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664" indent="-84832" lvl="1">
              <a:lnSpc>
                <a:spcPts val="1812"/>
              </a:lnSpc>
              <a:buFont typeface="Arial"/>
              <a:buChar char="•"/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ellenorizGyozelmet()</a:t>
            </a:r>
            <a:r>
              <a:rPr lang="en-US" b="true" sz="1124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Megvizsgálja, hogy történt-e 5 azonos jel egymás mellett.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3312" y="2329453"/>
            <a:ext cx="9332709" cy="29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664" indent="-84832" lvl="1">
              <a:lnSpc>
                <a:spcPts val="1812"/>
              </a:lnSpc>
              <a:buFont typeface="Arial"/>
              <a:buChar char="•"/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isJatekVege()</a:t>
            </a:r>
            <a:r>
              <a:rPr lang="en-US" b="true" sz="1124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Ellenőrzi, hogy a tábla tele van-e, vagy valaki nyert.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513312" y="2786215"/>
            <a:ext cx="9332709" cy="9332709"/>
          </a:xfrm>
          <a:custGeom>
            <a:avLst/>
            <a:gdLst/>
            <a:ahLst/>
            <a:cxnLst/>
            <a:rect r="r" b="b" t="t" l="l"/>
            <a:pathLst>
              <a:path h="9332709" w="9332709">
                <a:moveTo>
                  <a:pt x="0" y="0"/>
                </a:moveTo>
                <a:lnTo>
                  <a:pt x="9332709" y="0"/>
                </a:lnTo>
                <a:lnTo>
                  <a:pt x="9332709" y="9332709"/>
                </a:lnTo>
                <a:lnTo>
                  <a:pt x="0" y="9332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13334" y="1218752"/>
            <a:ext cx="2447182" cy="24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A </a:t>
            </a:r>
            <a:r>
              <a:rPr lang="en-US" sz="143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Main.java</a:t>
            </a:r>
            <a:r>
              <a:rPr lang="en-US" sz="143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 szerepe: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13334" y="1556442"/>
            <a:ext cx="7570737" cy="52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Ez az osztály a program belépési pontja. Itt történik a különböző komponensek (Model, View, Controller, Repository) inicializálása és összekötése. A Main felelős a játékkör indításáért és a fő játékhurok futtatásáért.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13334" y="2247900"/>
            <a:ext cx="7570737" cy="3271095"/>
            <a:chOff x="0" y="0"/>
            <a:chExt cx="10094316" cy="43614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94340" cy="4361561"/>
            </a:xfrm>
            <a:custGeom>
              <a:avLst/>
              <a:gdLst/>
              <a:ahLst/>
              <a:cxnLst/>
              <a:rect r="r" b="b" t="t" l="l"/>
              <a:pathLst>
                <a:path h="4361561" w="10094340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lnTo>
                    <a:pt x="10012172" y="0"/>
                  </a:lnTo>
                  <a:cubicBezTo>
                    <a:pt x="10057511" y="0"/>
                    <a:pt x="10094340" y="36830"/>
                    <a:pt x="10094340" y="82169"/>
                  </a:cubicBezTo>
                  <a:lnTo>
                    <a:pt x="10094340" y="4279392"/>
                  </a:lnTo>
                  <a:cubicBezTo>
                    <a:pt x="10094340" y="4324731"/>
                    <a:pt x="10057511" y="4361561"/>
                    <a:pt x="10012172" y="4361561"/>
                  </a:cubicBezTo>
                  <a:lnTo>
                    <a:pt x="82169" y="4361561"/>
                  </a:lnTo>
                  <a:cubicBezTo>
                    <a:pt x="36830" y="4361561"/>
                    <a:pt x="0" y="4324731"/>
                    <a:pt x="0" y="4279392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206038" y="2247900"/>
            <a:ext cx="7585319" cy="3271095"/>
            <a:chOff x="0" y="0"/>
            <a:chExt cx="10113759" cy="43614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3772" cy="4361434"/>
            </a:xfrm>
            <a:custGeom>
              <a:avLst/>
              <a:gdLst/>
              <a:ahLst/>
              <a:cxnLst/>
              <a:rect r="r" b="b" t="t" l="l"/>
              <a:pathLst>
                <a:path h="4361434" w="10113772">
                  <a:moveTo>
                    <a:pt x="0" y="29337"/>
                  </a:moveTo>
                  <a:cubicBezTo>
                    <a:pt x="0" y="13081"/>
                    <a:pt x="13081" y="0"/>
                    <a:pt x="29337" y="0"/>
                  </a:cubicBezTo>
                  <a:lnTo>
                    <a:pt x="10084435" y="0"/>
                  </a:lnTo>
                  <a:cubicBezTo>
                    <a:pt x="10100691" y="0"/>
                    <a:pt x="10113772" y="13081"/>
                    <a:pt x="10113772" y="29337"/>
                  </a:cubicBezTo>
                  <a:lnTo>
                    <a:pt x="10113772" y="4332097"/>
                  </a:lnTo>
                  <a:cubicBezTo>
                    <a:pt x="10113772" y="4348353"/>
                    <a:pt x="10100691" y="4361434"/>
                    <a:pt x="10084435" y="4361434"/>
                  </a:cubicBezTo>
                  <a:lnTo>
                    <a:pt x="29337" y="4361434"/>
                  </a:lnTo>
                  <a:cubicBezTo>
                    <a:pt x="13081" y="4361434"/>
                    <a:pt x="0" y="4348353"/>
                    <a:pt x="0" y="4332097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352637" y="2281685"/>
            <a:ext cx="7292130" cy="312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public class Main {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public static void main(String[] args) {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// Inicializálás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Board board = new Board(15, 15);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ConsoleUi ui = new ConsoleUi();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HighScoreRepository hsRepo = new HighScoreRepository();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GameEngine gameEngine = new GameEngine(board, ui, hsRepo);</a:t>
            </a:r>
          </a:p>
          <a:p>
            <a:pPr algn="l">
              <a:lnSpc>
                <a:spcPts val="1812"/>
              </a:lnSpc>
            </a:pP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// Játék indítása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gameEngine.start();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</a:p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181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36524" y="392906"/>
            <a:ext cx="11248577" cy="50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Repository minta (Adatperzisztencia)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524" y="1149848"/>
            <a:ext cx="1721495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Repository minta elszigeteli az adatelérési logikát az üzleti logikától, így a két réteg függetlenül fejlődhet és tesztelhető.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536524" y="2538708"/>
            <a:ext cx="9831572" cy="8439135"/>
          </a:xfrm>
          <a:custGeom>
            <a:avLst/>
            <a:gdLst/>
            <a:ahLst/>
            <a:cxnLst/>
            <a:rect r="r" b="b" t="t" l="l"/>
            <a:pathLst>
              <a:path h="8439135" w="9831572">
                <a:moveTo>
                  <a:pt x="0" y="0"/>
                </a:moveTo>
                <a:lnTo>
                  <a:pt x="9831572" y="0"/>
                </a:lnTo>
                <a:lnTo>
                  <a:pt x="9831572" y="8439134"/>
                </a:lnTo>
                <a:lnTo>
                  <a:pt x="0" y="8439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57" t="-12454" r="-554" b="-110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99302" y="1758848"/>
            <a:ext cx="1916163" cy="25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Cél: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99302" y="2113655"/>
            <a:ext cx="6661547" cy="79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adatok tárolásával és lekérdezésével kapcsolatos feladatok leválasztása az alkalmazás többi részétől. A GameEngine nem tudja, hogy az adatok fájlból, adatbázisból vagy hálózatról származnak-e.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99302" y="3040856"/>
            <a:ext cx="1916163" cy="25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Működés: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9302" y="3395662"/>
            <a:ext cx="6661547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GameEngine egy absztrakcióval, a HighScoreRepository interfésszel kommunikál. A konkrét implementáció, például egy H2 adatbázisban történő tárolás, rejtve marad.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99302" y="4115695"/>
            <a:ext cx="6661547" cy="2682478"/>
            <a:chOff x="0" y="0"/>
            <a:chExt cx="8882062" cy="3576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82126" cy="3576701"/>
            </a:xfrm>
            <a:custGeom>
              <a:avLst/>
              <a:gdLst/>
              <a:ahLst/>
              <a:cxnLst/>
              <a:rect r="r" b="b" t="t" l="l"/>
              <a:pathLst>
                <a:path h="3576701" w="8882126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lnTo>
                    <a:pt x="8796274" y="0"/>
                  </a:lnTo>
                  <a:cubicBezTo>
                    <a:pt x="8843645" y="0"/>
                    <a:pt x="8882126" y="38481"/>
                    <a:pt x="8882126" y="85852"/>
                  </a:cubicBezTo>
                  <a:lnTo>
                    <a:pt x="8882126" y="3490849"/>
                  </a:lnTo>
                  <a:cubicBezTo>
                    <a:pt x="8882126" y="3538220"/>
                    <a:pt x="8843645" y="3576701"/>
                    <a:pt x="8796274" y="3576701"/>
                  </a:cubicBezTo>
                  <a:lnTo>
                    <a:pt x="85852" y="3576701"/>
                  </a:lnTo>
                  <a:cubicBezTo>
                    <a:pt x="38481" y="3576701"/>
                    <a:pt x="0" y="3538220"/>
                    <a:pt x="0" y="3490849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091710" y="4115695"/>
            <a:ext cx="6676730" cy="2682478"/>
            <a:chOff x="0" y="0"/>
            <a:chExt cx="8902306" cy="35766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2319" cy="3576574"/>
            </a:xfrm>
            <a:custGeom>
              <a:avLst/>
              <a:gdLst/>
              <a:ahLst/>
              <a:cxnLst/>
              <a:rect r="r" b="b" t="t" l="l"/>
              <a:pathLst>
                <a:path h="3576574" w="8902319">
                  <a:moveTo>
                    <a:pt x="0" y="30607"/>
                  </a:moveTo>
                  <a:cubicBezTo>
                    <a:pt x="0" y="13716"/>
                    <a:pt x="13716" y="0"/>
                    <a:pt x="30607" y="0"/>
                  </a:cubicBezTo>
                  <a:lnTo>
                    <a:pt x="8871712" y="0"/>
                  </a:lnTo>
                  <a:cubicBezTo>
                    <a:pt x="8888603" y="0"/>
                    <a:pt x="8902319" y="13716"/>
                    <a:pt x="8902319" y="30607"/>
                  </a:cubicBezTo>
                  <a:lnTo>
                    <a:pt x="8902319" y="3545967"/>
                  </a:lnTo>
                  <a:cubicBezTo>
                    <a:pt x="8902319" y="3562858"/>
                    <a:pt x="8888603" y="3576574"/>
                    <a:pt x="8871712" y="3576574"/>
                  </a:cubicBezTo>
                  <a:lnTo>
                    <a:pt x="30607" y="3576574"/>
                  </a:lnTo>
                  <a:cubicBezTo>
                    <a:pt x="13716" y="3576574"/>
                    <a:pt x="0" y="3562858"/>
                    <a:pt x="0" y="3545967"/>
                  </a:cubicBezTo>
                  <a:close/>
                </a:path>
              </a:pathLst>
            </a:custGeom>
            <a:solidFill>
              <a:srgbClr val="222D3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245005" y="4163911"/>
            <a:ext cx="6370139" cy="251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public interface HighScoreRepository {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   void ment(HighScore score);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   List lekerTop(int limit);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1874"/>
              </a:lnSpc>
            </a:pP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// Implementáció: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public class H2HighScoreRepository implements HighScoreRepository {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    // ... adatbázis műveletek</a:t>
            </a:r>
          </a:p>
          <a:p>
            <a:pPr algn="l">
              <a:lnSpc>
                <a:spcPts val="1874"/>
              </a:lnSpc>
            </a:pPr>
            <a:r>
              <a:rPr lang="en-US" sz="1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187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099302" y="6951459"/>
            <a:ext cx="1916163" cy="25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Előnyök: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99302" y="7306266"/>
            <a:ext cx="666154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Könnyen cserélhető az adatelérési technológia.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99302" y="7605122"/>
            <a:ext cx="666154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Jobb tesztelhetőség (mockolható Repository).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496043" y="351682"/>
            <a:ext cx="691499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Strategy minta (AI logika)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6043" y="1059066"/>
            <a:ext cx="17295914" cy="28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Strategy minta lehetővé teszi algoritmusok cseréjét futásidőben, anélkül, hogy az algoritmusokat használó kliens kódot módosítani kellene.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635794" y="1502416"/>
            <a:ext cx="17016412" cy="8365036"/>
          </a:xfrm>
          <a:custGeom>
            <a:avLst/>
            <a:gdLst/>
            <a:ahLst/>
            <a:cxnLst/>
            <a:rect r="r" b="b" t="t" l="l"/>
            <a:pathLst>
              <a:path h="8365036" w="17016412">
                <a:moveTo>
                  <a:pt x="0" y="0"/>
                </a:moveTo>
                <a:lnTo>
                  <a:pt x="17016412" y="0"/>
                </a:lnTo>
                <a:lnTo>
                  <a:pt x="17016412" y="8365036"/>
                </a:lnTo>
                <a:lnTo>
                  <a:pt x="0" y="8365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" t="0" r="-2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62358" y="2218944"/>
            <a:ext cx="6508309" cy="50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Minimax / AlphaBeta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2358" y="2834230"/>
            <a:ext cx="7869536" cy="4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Keresés optimalizált döntések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4526023" y="2468242"/>
            <a:ext cx="553460" cy="553460"/>
          </a:xfrm>
          <a:custGeom>
            <a:avLst/>
            <a:gdLst/>
            <a:ahLst/>
            <a:cxnLst/>
            <a:rect r="r" b="b" t="t" l="l"/>
            <a:pathLst>
              <a:path h="553460" w="553460">
                <a:moveTo>
                  <a:pt x="0" y="0"/>
                </a:moveTo>
                <a:lnTo>
                  <a:pt x="553459" y="0"/>
                </a:lnTo>
                <a:lnTo>
                  <a:pt x="553459" y="553459"/>
                </a:lnTo>
                <a:lnTo>
                  <a:pt x="0" y="553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62358" y="4173360"/>
            <a:ext cx="5402466" cy="50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RandomStrategy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62358" y="4788637"/>
            <a:ext cx="7869536" cy="4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Egyszerű véletlenszerű lépések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4526023" y="4163225"/>
            <a:ext cx="553460" cy="553460"/>
          </a:xfrm>
          <a:custGeom>
            <a:avLst/>
            <a:gdLst/>
            <a:ahLst/>
            <a:cxnLst/>
            <a:rect r="r" b="b" t="t" l="l"/>
            <a:pathLst>
              <a:path h="553460" w="553460">
                <a:moveTo>
                  <a:pt x="0" y="0"/>
                </a:moveTo>
                <a:lnTo>
                  <a:pt x="553459" y="0"/>
                </a:lnTo>
                <a:lnTo>
                  <a:pt x="553459" y="553460"/>
                </a:lnTo>
                <a:lnTo>
                  <a:pt x="0" y="553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017" t="0" r="-1101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62358" y="6127775"/>
            <a:ext cx="3891524" cy="50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IStrategy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62358" y="6743052"/>
            <a:ext cx="7869536" cy="4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Közös interfész a stratégiáknak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4526023" y="5840901"/>
            <a:ext cx="553460" cy="553460"/>
          </a:xfrm>
          <a:custGeom>
            <a:avLst/>
            <a:gdLst/>
            <a:ahLst/>
            <a:cxnLst/>
            <a:rect r="r" b="b" t="t" l="l"/>
            <a:pathLst>
              <a:path h="553460" w="553460">
                <a:moveTo>
                  <a:pt x="0" y="0"/>
                </a:moveTo>
                <a:lnTo>
                  <a:pt x="553459" y="0"/>
                </a:lnTo>
                <a:lnTo>
                  <a:pt x="553459" y="553460"/>
                </a:lnTo>
                <a:lnTo>
                  <a:pt x="0" y="5534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541" t="0" r="-254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79656" y="8082182"/>
            <a:ext cx="3891524" cy="50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AiPlayer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79656" y="8697468"/>
            <a:ext cx="7869536" cy="4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Hívja a stratégiát futásidőben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4526023" y="7795317"/>
            <a:ext cx="553460" cy="553460"/>
          </a:xfrm>
          <a:custGeom>
            <a:avLst/>
            <a:gdLst/>
            <a:ahLst/>
            <a:cxnLst/>
            <a:rect r="r" b="b" t="t" l="l"/>
            <a:pathLst>
              <a:path h="553460" w="553460">
                <a:moveTo>
                  <a:pt x="0" y="0"/>
                </a:moveTo>
                <a:lnTo>
                  <a:pt x="553459" y="0"/>
                </a:lnTo>
                <a:lnTo>
                  <a:pt x="553459" y="553460"/>
                </a:lnTo>
                <a:lnTo>
                  <a:pt x="0" y="5534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085" t="0" r="-508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6043" y="10474528"/>
            <a:ext cx="8475021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AI játékos különböző viselkedési módjainak (stratégiáinak) elkülönítése és dinamikus cseréje. Így könnyedén hozzáadhatunk új AI nehézségi szinteket.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461" y="10474528"/>
            <a:ext cx="8475021" cy="2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AiPlayer osztály egy IStrategy interfészen keresztül kommunikál a konkrét stratégia implementációkkal.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6461" y="10838412"/>
            <a:ext cx="8475021" cy="28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750"/>
              </a:lnSpc>
              <a:buFont typeface="Arial"/>
              <a:buChar char="•"/>
            </a:pPr>
            <a:r>
              <a:rPr lang="en-US" b="true" sz="106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RandomStrategy (Jelenlegi):</a:t>
            </a: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Véletlenszerűen választ lépést.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6461" y="11114780"/>
            <a:ext cx="8475021" cy="28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750"/>
              </a:lnSpc>
              <a:buFont typeface="Arial"/>
              <a:buChar char="•"/>
            </a:pPr>
            <a:r>
              <a:rPr lang="en-US" b="true" sz="106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MinimaxStrategy (Jövőbeli):</a:t>
            </a: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Haladó algoritmus, amely a lehető legjobb lépést választja.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6461" y="11391157"/>
            <a:ext cx="8475021" cy="28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750"/>
              </a:lnSpc>
              <a:buFont typeface="Arial"/>
              <a:buChar char="•"/>
            </a:pPr>
            <a:r>
              <a:rPr lang="en-US" b="true" sz="106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AlphaBetaStrategy (Jövőbeli):</a:t>
            </a: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Optimalizált Minimax stratégia.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6043" y="11826926"/>
            <a:ext cx="17295914" cy="2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Ez az elrendezés tiszteletben tartja az </a:t>
            </a:r>
            <a:r>
              <a:rPr lang="en-US" sz="1062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Open/Closed elvet</a:t>
            </a:r>
            <a:r>
              <a:rPr lang="en-US" sz="1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: a rendszer nyitott a bővítésre (új stratégiák hozzáadása), de zárt a módosításra (a AiPlayer kódja nem változik).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1816598"/>
            <a:ext cx="1504190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Facade minta (Fájlkezelés)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3221984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Facade minta egy magas szintű interfészt biztosít egy alrendszerhez, elrejtve annak összetettségét és megkönnyítve a használatát.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455295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66" t="0" r="-266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14" y="468317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Cél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5229520"/>
            <a:ext cx="4135193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Egyszerű interfész biztosítása egy komplex alrendszerhez, jelen esetben az XML DOM kezeléséhez.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455295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667" t="0" r="-2866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7941" y="4683176"/>
            <a:ext cx="374943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Megvalósítás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941" y="5229520"/>
            <a:ext cx="4135193" cy="193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FileManager osztály elrejti az XML node-ok, a transformerek és az XPATH lekérdezések bonyolultságát.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3" y="455295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66" t="0" r="-66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60578" y="4683176"/>
            <a:ext cx="409902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Fő metódusok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0578" y="5200945"/>
            <a:ext cx="4135193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Consolas"/>
                <a:ea typeface="Consolas"/>
                <a:cs typeface="Consolas"/>
                <a:sym typeface="Consolas"/>
              </a:rPr>
              <a:t>ment(Board board, String fajlnev)betolt(String fajlnev) : 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382027"/>
            <a:ext cx="16303523" cy="103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FileManager így egyetlen, könnyen használható hozzáférési pontot biztosít a fájlműveletekhez a GameEngine számára, anélkül, hogy az XML struktúra részleteivel kellene foglalkoznia.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5450" y="335450"/>
            <a:ext cx="17553205" cy="9392467"/>
            <a:chOff x="0" y="0"/>
            <a:chExt cx="23404274" cy="125232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04274" cy="12523290"/>
            </a:xfrm>
            <a:custGeom>
              <a:avLst/>
              <a:gdLst/>
              <a:ahLst/>
              <a:cxnLst/>
              <a:rect r="r" b="b" t="t" l="l"/>
              <a:pathLst>
                <a:path h="12523290" w="23404274">
                  <a:moveTo>
                    <a:pt x="0" y="0"/>
                  </a:moveTo>
                  <a:lnTo>
                    <a:pt x="23404274" y="0"/>
                  </a:lnTo>
                  <a:lnTo>
                    <a:pt x="23404274" y="12523290"/>
                  </a:lnTo>
                  <a:lnTo>
                    <a:pt x="0" y="1252329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678165" y="473075"/>
            <a:ext cx="7546330" cy="60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674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Singleton minta és OOP alapelvek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8705" y="1427712"/>
            <a:ext cx="2368897" cy="40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48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Singleton minta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705" y="1806626"/>
            <a:ext cx="16650595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Singleton tervezési minta biztosítja, hogy egy adott osztálynak csak egyetlen példánya létezzen a programban, és egy globális hozzáférési pontot biztosít ehhez a példányhoz. Ideális olyan komponensekhez, mint az adatbázis-kapcsolatok (Repository) vagy naplózók (Logger).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8705" y="3702996"/>
            <a:ext cx="3054400" cy="40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487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OOP elvek a kódban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8705" y="4250979"/>
            <a:ext cx="16650595" cy="38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427" indent="-144213" lvl="1">
              <a:lnSpc>
                <a:spcPts val="3187"/>
              </a:lnSpc>
              <a:buFont typeface="Arial"/>
              <a:buChar char="•"/>
            </a:pPr>
            <a:r>
              <a:rPr lang="en-US" b="true" sz="191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Encapsulation (Tokozás):</a:t>
            </a:r>
            <a:r>
              <a:rPr lang="en-US" sz="19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Adatok és metódusok összekapcsolása egy egységbe. A belső állapot elrejtése (pl. private mezők, getterek és setterek).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8705" y="5048250"/>
            <a:ext cx="16650595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427" indent="-144213" lvl="1">
              <a:lnSpc>
                <a:spcPts val="3187"/>
              </a:lnSpc>
              <a:buFont typeface="Arial"/>
              <a:buChar char="•"/>
            </a:pPr>
            <a:r>
              <a:rPr lang="en-US" b="true" sz="191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Inheritance (Öröklődés):</a:t>
            </a:r>
            <a:r>
              <a:rPr lang="en-US" sz="19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Új osztályok létrehozása létező osztályokból, azok tulajdonságait és viselkedését felhasználva (pl. saját Exception osztályok öröklése).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8705" y="5862047"/>
            <a:ext cx="16650595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427" indent="-144213" lvl="1">
              <a:lnSpc>
                <a:spcPts val="3187"/>
              </a:lnSpc>
              <a:buFont typeface="Arial"/>
              <a:buChar char="•"/>
            </a:pPr>
            <a:r>
              <a:rPr lang="en-US" b="true" sz="1912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Polymorphism (Polimorfizmus):</a:t>
            </a:r>
            <a:r>
              <a:rPr lang="en-US" sz="191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Különböző objektumok azonos felületen keresztül történő kezelése (pl. Object osztály metódusainak felülírása, mint az equals() vagy toString()).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97284" y="950709"/>
            <a:ext cx="12918434" cy="84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SOLID elvek alkalmazása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7284" y="2235994"/>
            <a:ext cx="16493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SOLID öt alapvető objektumorientált tervezési elv, amelyek segítenek fenntarthatóbb, rugalmasabb és könnyebben érthető szoftverek létrehozásában. Projektünk számos pontján alkalmazzuk ezeket az elveket: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521" y="3416198"/>
            <a:ext cx="16502958" cy="5877220"/>
            <a:chOff x="0" y="0"/>
            <a:chExt cx="22003944" cy="7836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04020" cy="7836281"/>
            </a:xfrm>
            <a:custGeom>
              <a:avLst/>
              <a:gdLst/>
              <a:ahLst/>
              <a:cxnLst/>
              <a:rect r="r" b="b" t="t" l="l"/>
              <a:pathLst>
                <a:path h="7836281" w="22004020">
                  <a:moveTo>
                    <a:pt x="0" y="149860"/>
                  </a:moveTo>
                  <a:cubicBezTo>
                    <a:pt x="0" y="67056"/>
                    <a:pt x="67183" y="0"/>
                    <a:pt x="150114" y="0"/>
                  </a:cubicBezTo>
                  <a:lnTo>
                    <a:pt x="21853906" y="0"/>
                  </a:lnTo>
                  <a:lnTo>
                    <a:pt x="21853906" y="6350"/>
                  </a:lnTo>
                  <a:lnTo>
                    <a:pt x="21853906" y="0"/>
                  </a:lnTo>
                  <a:cubicBezTo>
                    <a:pt x="21936838" y="0"/>
                    <a:pt x="22004020" y="67056"/>
                    <a:pt x="22004020" y="149860"/>
                  </a:cubicBezTo>
                  <a:lnTo>
                    <a:pt x="21997670" y="149860"/>
                  </a:lnTo>
                  <a:lnTo>
                    <a:pt x="22004020" y="149860"/>
                  </a:lnTo>
                  <a:lnTo>
                    <a:pt x="22004020" y="7686421"/>
                  </a:lnTo>
                  <a:lnTo>
                    <a:pt x="21997670" y="7686421"/>
                  </a:lnTo>
                  <a:lnTo>
                    <a:pt x="22004020" y="7686421"/>
                  </a:lnTo>
                  <a:cubicBezTo>
                    <a:pt x="22004020" y="7769225"/>
                    <a:pt x="21936838" y="7836281"/>
                    <a:pt x="21853906" y="7836281"/>
                  </a:cubicBezTo>
                  <a:lnTo>
                    <a:pt x="21853906" y="7829931"/>
                  </a:lnTo>
                  <a:lnTo>
                    <a:pt x="21853906" y="7836281"/>
                  </a:lnTo>
                  <a:lnTo>
                    <a:pt x="150114" y="7836281"/>
                  </a:lnTo>
                  <a:lnTo>
                    <a:pt x="150114" y="7829931"/>
                  </a:lnTo>
                  <a:lnTo>
                    <a:pt x="150114" y="7836281"/>
                  </a:lnTo>
                  <a:cubicBezTo>
                    <a:pt x="67183" y="7836281"/>
                    <a:pt x="0" y="7769225"/>
                    <a:pt x="0" y="7686421"/>
                  </a:cubicBezTo>
                  <a:lnTo>
                    <a:pt x="0" y="149860"/>
                  </a:lnTo>
                  <a:lnTo>
                    <a:pt x="6350" y="149860"/>
                  </a:lnTo>
                  <a:lnTo>
                    <a:pt x="0" y="149860"/>
                  </a:lnTo>
                  <a:moveTo>
                    <a:pt x="12700" y="149860"/>
                  </a:moveTo>
                  <a:lnTo>
                    <a:pt x="12700" y="7686421"/>
                  </a:lnTo>
                  <a:lnTo>
                    <a:pt x="6350" y="7686421"/>
                  </a:lnTo>
                  <a:lnTo>
                    <a:pt x="12700" y="7686421"/>
                  </a:lnTo>
                  <a:cubicBezTo>
                    <a:pt x="12700" y="7762239"/>
                    <a:pt x="74168" y="7823581"/>
                    <a:pt x="150114" y="7823581"/>
                  </a:cubicBezTo>
                  <a:lnTo>
                    <a:pt x="21853906" y="7823581"/>
                  </a:lnTo>
                  <a:cubicBezTo>
                    <a:pt x="21929725" y="7823581"/>
                    <a:pt x="21991320" y="7762113"/>
                    <a:pt x="21991320" y="7686421"/>
                  </a:cubicBezTo>
                  <a:lnTo>
                    <a:pt x="21991320" y="149860"/>
                  </a:lnTo>
                  <a:cubicBezTo>
                    <a:pt x="21991320" y="74041"/>
                    <a:pt x="21929852" y="12700"/>
                    <a:pt x="21853906" y="12700"/>
                  </a:cubicBezTo>
                  <a:lnTo>
                    <a:pt x="150114" y="12700"/>
                  </a:lnTo>
                  <a:lnTo>
                    <a:pt x="150114" y="6350"/>
                  </a:lnTo>
                  <a:lnTo>
                    <a:pt x="150114" y="12700"/>
                  </a:lnTo>
                  <a:cubicBezTo>
                    <a:pt x="74168" y="12700"/>
                    <a:pt x="12700" y="74168"/>
                    <a:pt x="12700" y="14986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6809" y="3430486"/>
            <a:ext cx="16474383" cy="1165917"/>
            <a:chOff x="0" y="0"/>
            <a:chExt cx="21965844" cy="15545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5793" cy="1554607"/>
            </a:xfrm>
            <a:custGeom>
              <a:avLst/>
              <a:gdLst/>
              <a:ahLst/>
              <a:cxnLst/>
              <a:rect r="r" b="b" t="t" l="l"/>
              <a:pathLst>
                <a:path h="1554607" w="21965793">
                  <a:moveTo>
                    <a:pt x="0" y="0"/>
                  </a:moveTo>
                  <a:lnTo>
                    <a:pt x="21965793" y="0"/>
                  </a:lnTo>
                  <a:lnTo>
                    <a:pt x="21965793" y="1554607"/>
                  </a:lnTo>
                  <a:lnTo>
                    <a:pt x="0" y="15546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63241" y="3517554"/>
            <a:ext cx="2777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(Single Responsibility Principle)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62758" y="3517554"/>
            <a:ext cx="12662144" cy="9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Külön osztályok a logikára (GameEngine) és a megjelenítésre (ConsoleUi), biztosítva, hogy minden osztálynak csak egyetlen feladata legyen.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6809" y="4596403"/>
            <a:ext cx="16474383" cy="1165917"/>
            <a:chOff x="0" y="0"/>
            <a:chExt cx="21965844" cy="1554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5793" cy="1554607"/>
            </a:xfrm>
            <a:custGeom>
              <a:avLst/>
              <a:gdLst/>
              <a:ahLst/>
              <a:cxnLst/>
              <a:rect r="r" b="b" t="t" l="l"/>
              <a:pathLst>
                <a:path h="1554607" w="21965793">
                  <a:moveTo>
                    <a:pt x="0" y="0"/>
                  </a:moveTo>
                  <a:lnTo>
                    <a:pt x="21965793" y="0"/>
                  </a:lnTo>
                  <a:lnTo>
                    <a:pt x="21965793" y="1554607"/>
                  </a:lnTo>
                  <a:lnTo>
                    <a:pt x="0" y="1554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63241" y="4683471"/>
            <a:ext cx="2777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(Open/Closed Principle)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62758" y="4683471"/>
            <a:ext cx="12662144" cy="9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Az AI stratégiák (IStrategy interfész) bővíthetők új implementációkkal, anélkül, hogy a meglévő AiPlayer kódot módosítani kellene.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6809" y="5762330"/>
            <a:ext cx="16474383" cy="1165917"/>
            <a:chOff x="0" y="0"/>
            <a:chExt cx="21965844" cy="15545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65793" cy="1554607"/>
            </a:xfrm>
            <a:custGeom>
              <a:avLst/>
              <a:gdLst/>
              <a:ahLst/>
              <a:cxnLst/>
              <a:rect r="r" b="b" t="t" l="l"/>
              <a:pathLst>
                <a:path h="1554607" w="21965793">
                  <a:moveTo>
                    <a:pt x="0" y="0"/>
                  </a:moveTo>
                  <a:lnTo>
                    <a:pt x="21965793" y="0"/>
                  </a:lnTo>
                  <a:lnTo>
                    <a:pt x="21965793" y="1554607"/>
                  </a:lnTo>
                  <a:lnTo>
                    <a:pt x="0" y="15546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63241" y="5849388"/>
            <a:ext cx="2777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(Liskov Substitution Principle)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62758" y="5849388"/>
            <a:ext cx="12662144" cy="9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létrehozott GameException hierarchia lehetővé teszi az alosztályok felcserélhetőségét a szuperosztályukkal, a program integritásának megőrzése mellett.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6809" y="6928247"/>
            <a:ext cx="16474383" cy="1184967"/>
            <a:chOff x="0" y="0"/>
            <a:chExt cx="21965844" cy="15799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65793" cy="1580007"/>
            </a:xfrm>
            <a:custGeom>
              <a:avLst/>
              <a:gdLst/>
              <a:ahLst/>
              <a:cxnLst/>
              <a:rect r="r" b="b" t="t" l="l"/>
              <a:pathLst>
                <a:path h="1580007" w="21965793">
                  <a:moveTo>
                    <a:pt x="0" y="0"/>
                  </a:moveTo>
                  <a:lnTo>
                    <a:pt x="21965793" y="0"/>
                  </a:lnTo>
                  <a:lnTo>
                    <a:pt x="21965793" y="1580007"/>
                  </a:lnTo>
                  <a:lnTo>
                    <a:pt x="0" y="1580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63241" y="7015315"/>
            <a:ext cx="2777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I</a:t>
            </a: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(Interface Segregation Principle)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62758" y="7015315"/>
            <a:ext cx="12662144" cy="93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Specifikus interfészek használata, mint például a HighScoreRepository, biztosítja, hogy a kliensek (pl. GameEngine) csak azokat a metódusokat lássák, amikre valóban szükségük van.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6809" y="8113214"/>
            <a:ext cx="16474383" cy="1165917"/>
            <a:chOff x="0" y="0"/>
            <a:chExt cx="21965844" cy="1554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5793" cy="1554607"/>
            </a:xfrm>
            <a:custGeom>
              <a:avLst/>
              <a:gdLst/>
              <a:ahLst/>
              <a:cxnLst/>
              <a:rect r="r" b="b" t="t" l="l"/>
              <a:pathLst>
                <a:path h="1554607" w="21965793">
                  <a:moveTo>
                    <a:pt x="0" y="0"/>
                  </a:moveTo>
                  <a:lnTo>
                    <a:pt x="21965793" y="0"/>
                  </a:lnTo>
                  <a:lnTo>
                    <a:pt x="21965793" y="1554607"/>
                  </a:lnTo>
                  <a:lnTo>
                    <a:pt x="0" y="15546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63241" y="8200282"/>
            <a:ext cx="2777433" cy="89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(Dependency Inversion Principle)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62758" y="8200282"/>
            <a:ext cx="12662144" cy="9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Repository minta használata absztrakciót biztosít az adatperzisztencia felett, így a GameEngine nem közvetlenül az SQL adatbázistól függ, hanem egy interfésztől.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42527" y="1104157"/>
            <a:ext cx="16344157" cy="89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Összegzés és Projekt struktúra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7765" y="2536774"/>
            <a:ext cx="8076305" cy="817359"/>
            <a:chOff x="0" y="0"/>
            <a:chExt cx="10768406" cy="10898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10755885" cy="1077214"/>
            </a:xfrm>
            <a:custGeom>
              <a:avLst/>
              <a:gdLst/>
              <a:ahLst/>
              <a:cxnLst/>
              <a:rect r="r" b="b" t="t" l="l"/>
              <a:pathLst>
                <a:path h="1077214" w="10755885">
                  <a:moveTo>
                    <a:pt x="0" y="538607"/>
                  </a:moveTo>
                  <a:cubicBezTo>
                    <a:pt x="0" y="241173"/>
                    <a:pt x="243713" y="0"/>
                    <a:pt x="544322" y="0"/>
                  </a:cubicBezTo>
                  <a:lnTo>
                    <a:pt x="10211562" y="0"/>
                  </a:lnTo>
                  <a:cubicBezTo>
                    <a:pt x="10512172" y="0"/>
                    <a:pt x="10755885" y="241173"/>
                    <a:pt x="10755885" y="538607"/>
                  </a:cubicBezTo>
                  <a:cubicBezTo>
                    <a:pt x="10755885" y="836041"/>
                    <a:pt x="10512172" y="1077214"/>
                    <a:pt x="10211562" y="1077214"/>
                  </a:cubicBezTo>
                  <a:lnTo>
                    <a:pt x="544322" y="1077214"/>
                  </a:lnTo>
                  <a:cubicBezTo>
                    <a:pt x="243713" y="1077087"/>
                    <a:pt x="0" y="836041"/>
                    <a:pt x="0" y="538607"/>
                  </a:cubicBezTo>
                  <a:close/>
                </a:path>
              </a:pathLst>
            </a:custGeom>
            <a:solidFill>
              <a:srgbClr val="54780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8585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768585">
                  <a:moveTo>
                    <a:pt x="0" y="544957"/>
                  </a:moveTo>
                  <a:cubicBezTo>
                    <a:pt x="0" y="243840"/>
                    <a:pt x="246634" y="0"/>
                    <a:pt x="550672" y="0"/>
                  </a:cubicBezTo>
                  <a:lnTo>
                    <a:pt x="10217912" y="0"/>
                  </a:lnTo>
                  <a:lnTo>
                    <a:pt x="10217912" y="6350"/>
                  </a:lnTo>
                  <a:lnTo>
                    <a:pt x="10217912" y="0"/>
                  </a:lnTo>
                  <a:cubicBezTo>
                    <a:pt x="10521950" y="0"/>
                    <a:pt x="10768585" y="243840"/>
                    <a:pt x="10768585" y="544957"/>
                  </a:cubicBezTo>
                  <a:lnTo>
                    <a:pt x="10762235" y="544957"/>
                  </a:lnTo>
                  <a:lnTo>
                    <a:pt x="10768585" y="544957"/>
                  </a:lnTo>
                  <a:lnTo>
                    <a:pt x="10762235" y="544957"/>
                  </a:lnTo>
                  <a:lnTo>
                    <a:pt x="10768585" y="544957"/>
                  </a:lnTo>
                  <a:cubicBezTo>
                    <a:pt x="10768585" y="845947"/>
                    <a:pt x="10521950" y="1089914"/>
                    <a:pt x="10217912" y="1089914"/>
                  </a:cubicBezTo>
                  <a:lnTo>
                    <a:pt x="10217912" y="1083564"/>
                  </a:lnTo>
                  <a:lnTo>
                    <a:pt x="10217912" y="1089914"/>
                  </a:lnTo>
                  <a:lnTo>
                    <a:pt x="550672" y="1089914"/>
                  </a:lnTo>
                  <a:lnTo>
                    <a:pt x="550672" y="1083564"/>
                  </a:lnTo>
                  <a:lnTo>
                    <a:pt x="550672" y="1089914"/>
                  </a:lnTo>
                  <a:cubicBezTo>
                    <a:pt x="246634" y="1089787"/>
                    <a:pt x="0" y="845947"/>
                    <a:pt x="0" y="544957"/>
                  </a:cubicBezTo>
                  <a:lnTo>
                    <a:pt x="6350" y="544957"/>
                  </a:lnTo>
                  <a:lnTo>
                    <a:pt x="0" y="544957"/>
                  </a:lnTo>
                  <a:moveTo>
                    <a:pt x="12700" y="544957"/>
                  </a:moveTo>
                  <a:lnTo>
                    <a:pt x="6350" y="544957"/>
                  </a:lnTo>
                  <a:lnTo>
                    <a:pt x="12700" y="544957"/>
                  </a:lnTo>
                  <a:cubicBezTo>
                    <a:pt x="12700" y="838835"/>
                    <a:pt x="253492" y="1077087"/>
                    <a:pt x="550672" y="1077087"/>
                  </a:cubicBezTo>
                  <a:lnTo>
                    <a:pt x="10217912" y="1077087"/>
                  </a:lnTo>
                  <a:cubicBezTo>
                    <a:pt x="10515092" y="1077087"/>
                    <a:pt x="10755885" y="838708"/>
                    <a:pt x="10755885" y="544830"/>
                  </a:cubicBezTo>
                  <a:cubicBezTo>
                    <a:pt x="10755885" y="250952"/>
                    <a:pt x="10514965" y="12700"/>
                    <a:pt x="10217785" y="12700"/>
                  </a:cubicBezTo>
                  <a:lnTo>
                    <a:pt x="550672" y="12700"/>
                  </a:lnTo>
                  <a:lnTo>
                    <a:pt x="550672" y="6350"/>
                  </a:lnTo>
                  <a:lnTo>
                    <a:pt x="550672" y="12700"/>
                  </a:lnTo>
                  <a:cubicBezTo>
                    <a:pt x="253492" y="12700"/>
                    <a:pt x="12700" y="251079"/>
                    <a:pt x="12700" y="544957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4773959" y="2743352"/>
            <a:ext cx="403917" cy="403917"/>
          </a:xfrm>
          <a:custGeom>
            <a:avLst/>
            <a:gdLst/>
            <a:ahLst/>
            <a:cxnLst/>
            <a:rect r="r" b="b" t="t" l="l"/>
            <a:pathLst>
              <a:path h="403917" w="403917">
                <a:moveTo>
                  <a:pt x="0" y="0"/>
                </a:moveTo>
                <a:lnTo>
                  <a:pt x="403917" y="0"/>
                </a:lnTo>
                <a:lnTo>
                  <a:pt x="403917" y="403918"/>
                </a:lnTo>
                <a:lnTo>
                  <a:pt x="0" y="403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487" t="0" r="-349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1761" y="3580505"/>
            <a:ext cx="5051222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MVC (Architektúra)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761" y="4105570"/>
            <a:ext cx="7528322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Szeparált felelősségek a Modell, Nézet és Vezérlő rétegek között.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73778" y="2536774"/>
            <a:ext cx="8076457" cy="817359"/>
            <a:chOff x="0" y="0"/>
            <a:chExt cx="10768609" cy="1089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0756011" cy="1077214"/>
            </a:xfrm>
            <a:custGeom>
              <a:avLst/>
              <a:gdLst/>
              <a:ahLst/>
              <a:cxnLst/>
              <a:rect r="r" b="b" t="t" l="l"/>
              <a:pathLst>
                <a:path h="1077214" w="10756011">
                  <a:moveTo>
                    <a:pt x="0" y="538607"/>
                  </a:moveTo>
                  <a:cubicBezTo>
                    <a:pt x="0" y="241173"/>
                    <a:pt x="243713" y="0"/>
                    <a:pt x="544322" y="0"/>
                  </a:cubicBezTo>
                  <a:lnTo>
                    <a:pt x="10211689" y="0"/>
                  </a:lnTo>
                  <a:cubicBezTo>
                    <a:pt x="10512298" y="0"/>
                    <a:pt x="10756011" y="241173"/>
                    <a:pt x="10756011" y="538607"/>
                  </a:cubicBezTo>
                  <a:cubicBezTo>
                    <a:pt x="10756011" y="836041"/>
                    <a:pt x="10512298" y="1077214"/>
                    <a:pt x="10211689" y="1077214"/>
                  </a:cubicBezTo>
                  <a:lnTo>
                    <a:pt x="544322" y="1077214"/>
                  </a:lnTo>
                  <a:cubicBezTo>
                    <a:pt x="243713" y="1077087"/>
                    <a:pt x="0" y="836041"/>
                    <a:pt x="0" y="538607"/>
                  </a:cubicBezTo>
                  <a:close/>
                </a:path>
              </a:pathLst>
            </a:custGeom>
            <a:solidFill>
              <a:srgbClr val="54780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8711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768711">
                  <a:moveTo>
                    <a:pt x="0" y="544957"/>
                  </a:moveTo>
                  <a:cubicBezTo>
                    <a:pt x="0" y="243840"/>
                    <a:pt x="246634" y="0"/>
                    <a:pt x="550672" y="0"/>
                  </a:cubicBezTo>
                  <a:lnTo>
                    <a:pt x="10218039" y="0"/>
                  </a:lnTo>
                  <a:lnTo>
                    <a:pt x="10218039" y="6350"/>
                  </a:lnTo>
                  <a:lnTo>
                    <a:pt x="10218039" y="0"/>
                  </a:lnTo>
                  <a:cubicBezTo>
                    <a:pt x="10522077" y="0"/>
                    <a:pt x="10768711" y="243840"/>
                    <a:pt x="10768711" y="544957"/>
                  </a:cubicBezTo>
                  <a:lnTo>
                    <a:pt x="10762361" y="544957"/>
                  </a:lnTo>
                  <a:lnTo>
                    <a:pt x="10768711" y="544957"/>
                  </a:lnTo>
                  <a:lnTo>
                    <a:pt x="10762361" y="544957"/>
                  </a:lnTo>
                  <a:lnTo>
                    <a:pt x="10768711" y="544957"/>
                  </a:lnTo>
                  <a:cubicBezTo>
                    <a:pt x="10768711" y="845947"/>
                    <a:pt x="10522077" y="1089914"/>
                    <a:pt x="10218039" y="1089914"/>
                  </a:cubicBezTo>
                  <a:lnTo>
                    <a:pt x="10218039" y="1083564"/>
                  </a:lnTo>
                  <a:lnTo>
                    <a:pt x="10218039" y="1089914"/>
                  </a:lnTo>
                  <a:lnTo>
                    <a:pt x="550672" y="1089914"/>
                  </a:lnTo>
                  <a:lnTo>
                    <a:pt x="550672" y="1083564"/>
                  </a:lnTo>
                  <a:lnTo>
                    <a:pt x="550672" y="1089914"/>
                  </a:lnTo>
                  <a:cubicBezTo>
                    <a:pt x="246634" y="1089787"/>
                    <a:pt x="0" y="845947"/>
                    <a:pt x="0" y="544957"/>
                  </a:cubicBezTo>
                  <a:lnTo>
                    <a:pt x="6350" y="544957"/>
                  </a:lnTo>
                  <a:lnTo>
                    <a:pt x="0" y="544957"/>
                  </a:lnTo>
                  <a:moveTo>
                    <a:pt x="12700" y="544957"/>
                  </a:moveTo>
                  <a:lnTo>
                    <a:pt x="6350" y="544957"/>
                  </a:lnTo>
                  <a:lnTo>
                    <a:pt x="12700" y="544957"/>
                  </a:lnTo>
                  <a:cubicBezTo>
                    <a:pt x="12700" y="838835"/>
                    <a:pt x="253492" y="1077087"/>
                    <a:pt x="550672" y="1077087"/>
                  </a:cubicBezTo>
                  <a:lnTo>
                    <a:pt x="10218039" y="1077087"/>
                  </a:lnTo>
                  <a:cubicBezTo>
                    <a:pt x="10515219" y="1077087"/>
                    <a:pt x="10756011" y="838708"/>
                    <a:pt x="10756011" y="544830"/>
                  </a:cubicBezTo>
                  <a:cubicBezTo>
                    <a:pt x="10756011" y="250952"/>
                    <a:pt x="10515092" y="12700"/>
                    <a:pt x="10218039" y="12700"/>
                  </a:cubicBezTo>
                  <a:lnTo>
                    <a:pt x="550672" y="12700"/>
                  </a:lnTo>
                  <a:lnTo>
                    <a:pt x="550672" y="6350"/>
                  </a:lnTo>
                  <a:lnTo>
                    <a:pt x="550672" y="12700"/>
                  </a:lnTo>
                  <a:cubicBezTo>
                    <a:pt x="253492" y="12700"/>
                    <a:pt x="12700" y="251079"/>
                    <a:pt x="12700" y="544957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3109972" y="2743352"/>
            <a:ext cx="403917" cy="403917"/>
          </a:xfrm>
          <a:custGeom>
            <a:avLst/>
            <a:gdLst/>
            <a:ahLst/>
            <a:cxnLst/>
            <a:rect r="r" b="b" t="t" l="l"/>
            <a:pathLst>
              <a:path h="403917" w="403917">
                <a:moveTo>
                  <a:pt x="0" y="0"/>
                </a:moveTo>
                <a:lnTo>
                  <a:pt x="403917" y="0"/>
                </a:lnTo>
                <a:lnTo>
                  <a:pt x="403917" y="403918"/>
                </a:lnTo>
                <a:lnTo>
                  <a:pt x="0" y="403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977" r="0" b="-697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47774" y="3580505"/>
            <a:ext cx="6615265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Repository (Adatkezelés)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7774" y="4105570"/>
            <a:ext cx="7528474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Elszigetelt adatelérési logika, könnyű adatforrás-csere.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7765" y="5596528"/>
            <a:ext cx="8076305" cy="817359"/>
            <a:chOff x="0" y="0"/>
            <a:chExt cx="10768406" cy="10898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0755885" cy="1077214"/>
            </a:xfrm>
            <a:custGeom>
              <a:avLst/>
              <a:gdLst/>
              <a:ahLst/>
              <a:cxnLst/>
              <a:rect r="r" b="b" t="t" l="l"/>
              <a:pathLst>
                <a:path h="1077214" w="10755885">
                  <a:moveTo>
                    <a:pt x="0" y="538607"/>
                  </a:moveTo>
                  <a:cubicBezTo>
                    <a:pt x="0" y="241173"/>
                    <a:pt x="243713" y="0"/>
                    <a:pt x="544322" y="0"/>
                  </a:cubicBezTo>
                  <a:lnTo>
                    <a:pt x="10211562" y="0"/>
                  </a:lnTo>
                  <a:cubicBezTo>
                    <a:pt x="10512172" y="0"/>
                    <a:pt x="10755885" y="241173"/>
                    <a:pt x="10755885" y="538607"/>
                  </a:cubicBezTo>
                  <a:cubicBezTo>
                    <a:pt x="10755885" y="836041"/>
                    <a:pt x="10512172" y="1077214"/>
                    <a:pt x="10211562" y="1077214"/>
                  </a:cubicBezTo>
                  <a:lnTo>
                    <a:pt x="544322" y="1077214"/>
                  </a:lnTo>
                  <a:cubicBezTo>
                    <a:pt x="243713" y="1077087"/>
                    <a:pt x="0" y="836041"/>
                    <a:pt x="0" y="538607"/>
                  </a:cubicBezTo>
                  <a:close/>
                </a:path>
              </a:pathLst>
            </a:custGeom>
            <a:solidFill>
              <a:srgbClr val="54780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8585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768585">
                  <a:moveTo>
                    <a:pt x="0" y="544957"/>
                  </a:moveTo>
                  <a:cubicBezTo>
                    <a:pt x="0" y="243840"/>
                    <a:pt x="246634" y="0"/>
                    <a:pt x="550672" y="0"/>
                  </a:cubicBezTo>
                  <a:lnTo>
                    <a:pt x="10217912" y="0"/>
                  </a:lnTo>
                  <a:lnTo>
                    <a:pt x="10217912" y="6350"/>
                  </a:lnTo>
                  <a:lnTo>
                    <a:pt x="10217912" y="0"/>
                  </a:lnTo>
                  <a:cubicBezTo>
                    <a:pt x="10521950" y="0"/>
                    <a:pt x="10768585" y="243840"/>
                    <a:pt x="10768585" y="544957"/>
                  </a:cubicBezTo>
                  <a:lnTo>
                    <a:pt x="10762235" y="544957"/>
                  </a:lnTo>
                  <a:lnTo>
                    <a:pt x="10768585" y="544957"/>
                  </a:lnTo>
                  <a:lnTo>
                    <a:pt x="10762235" y="544957"/>
                  </a:lnTo>
                  <a:lnTo>
                    <a:pt x="10768585" y="544957"/>
                  </a:lnTo>
                  <a:cubicBezTo>
                    <a:pt x="10768585" y="845947"/>
                    <a:pt x="10521950" y="1089914"/>
                    <a:pt x="10217912" y="1089914"/>
                  </a:cubicBezTo>
                  <a:lnTo>
                    <a:pt x="10217912" y="1083564"/>
                  </a:lnTo>
                  <a:lnTo>
                    <a:pt x="10217912" y="1089914"/>
                  </a:lnTo>
                  <a:lnTo>
                    <a:pt x="550672" y="1089914"/>
                  </a:lnTo>
                  <a:lnTo>
                    <a:pt x="550672" y="1083564"/>
                  </a:lnTo>
                  <a:lnTo>
                    <a:pt x="550672" y="1089914"/>
                  </a:lnTo>
                  <a:cubicBezTo>
                    <a:pt x="246634" y="1089787"/>
                    <a:pt x="0" y="845947"/>
                    <a:pt x="0" y="544957"/>
                  </a:cubicBezTo>
                  <a:lnTo>
                    <a:pt x="6350" y="544957"/>
                  </a:lnTo>
                  <a:lnTo>
                    <a:pt x="0" y="544957"/>
                  </a:lnTo>
                  <a:moveTo>
                    <a:pt x="12700" y="544957"/>
                  </a:moveTo>
                  <a:lnTo>
                    <a:pt x="6350" y="544957"/>
                  </a:lnTo>
                  <a:lnTo>
                    <a:pt x="12700" y="544957"/>
                  </a:lnTo>
                  <a:cubicBezTo>
                    <a:pt x="12700" y="838835"/>
                    <a:pt x="253492" y="1077087"/>
                    <a:pt x="550672" y="1077087"/>
                  </a:cubicBezTo>
                  <a:lnTo>
                    <a:pt x="10217912" y="1077087"/>
                  </a:lnTo>
                  <a:cubicBezTo>
                    <a:pt x="10515092" y="1077087"/>
                    <a:pt x="10755885" y="838708"/>
                    <a:pt x="10755885" y="544830"/>
                  </a:cubicBezTo>
                  <a:cubicBezTo>
                    <a:pt x="10755885" y="250952"/>
                    <a:pt x="10514965" y="12700"/>
                    <a:pt x="10217785" y="12700"/>
                  </a:cubicBezTo>
                  <a:lnTo>
                    <a:pt x="550672" y="12700"/>
                  </a:lnTo>
                  <a:lnTo>
                    <a:pt x="550672" y="6350"/>
                  </a:lnTo>
                  <a:lnTo>
                    <a:pt x="550672" y="12700"/>
                  </a:lnTo>
                  <a:cubicBezTo>
                    <a:pt x="253492" y="12700"/>
                    <a:pt x="12700" y="251079"/>
                    <a:pt x="12700" y="544957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4773959" y="5803106"/>
            <a:ext cx="403917" cy="403917"/>
          </a:xfrm>
          <a:custGeom>
            <a:avLst/>
            <a:gdLst/>
            <a:ahLst/>
            <a:cxnLst/>
            <a:rect r="r" b="b" t="t" l="l"/>
            <a:pathLst>
              <a:path h="403917" w="403917">
                <a:moveTo>
                  <a:pt x="0" y="0"/>
                </a:moveTo>
                <a:lnTo>
                  <a:pt x="403917" y="0"/>
                </a:lnTo>
                <a:lnTo>
                  <a:pt x="403917" y="403917"/>
                </a:lnTo>
                <a:lnTo>
                  <a:pt x="0" y="403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605" r="0" b="-1860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11761" y="6640268"/>
            <a:ext cx="3366497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Strategy (AI)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1761" y="7165334"/>
            <a:ext cx="7528322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Dinamikusan cserélhető algoritmusok az AI viselkedéshez.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73778" y="5596528"/>
            <a:ext cx="8076457" cy="817359"/>
            <a:chOff x="0" y="0"/>
            <a:chExt cx="10768609" cy="10898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756011" cy="1077214"/>
            </a:xfrm>
            <a:custGeom>
              <a:avLst/>
              <a:gdLst/>
              <a:ahLst/>
              <a:cxnLst/>
              <a:rect r="r" b="b" t="t" l="l"/>
              <a:pathLst>
                <a:path h="1077214" w="10756011">
                  <a:moveTo>
                    <a:pt x="0" y="538607"/>
                  </a:moveTo>
                  <a:cubicBezTo>
                    <a:pt x="0" y="241173"/>
                    <a:pt x="243713" y="0"/>
                    <a:pt x="544322" y="0"/>
                  </a:cubicBezTo>
                  <a:lnTo>
                    <a:pt x="10211689" y="0"/>
                  </a:lnTo>
                  <a:cubicBezTo>
                    <a:pt x="10512298" y="0"/>
                    <a:pt x="10756011" y="241173"/>
                    <a:pt x="10756011" y="538607"/>
                  </a:cubicBezTo>
                  <a:cubicBezTo>
                    <a:pt x="10756011" y="836041"/>
                    <a:pt x="10512298" y="1077214"/>
                    <a:pt x="10211689" y="1077214"/>
                  </a:cubicBezTo>
                  <a:lnTo>
                    <a:pt x="544322" y="1077214"/>
                  </a:lnTo>
                  <a:cubicBezTo>
                    <a:pt x="243713" y="1077087"/>
                    <a:pt x="0" y="836041"/>
                    <a:pt x="0" y="538607"/>
                  </a:cubicBezTo>
                  <a:close/>
                </a:path>
              </a:pathLst>
            </a:custGeom>
            <a:solidFill>
              <a:srgbClr val="54780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8711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768711">
                  <a:moveTo>
                    <a:pt x="0" y="544957"/>
                  </a:moveTo>
                  <a:cubicBezTo>
                    <a:pt x="0" y="243840"/>
                    <a:pt x="246634" y="0"/>
                    <a:pt x="550672" y="0"/>
                  </a:cubicBezTo>
                  <a:lnTo>
                    <a:pt x="10218039" y="0"/>
                  </a:lnTo>
                  <a:lnTo>
                    <a:pt x="10218039" y="6350"/>
                  </a:lnTo>
                  <a:lnTo>
                    <a:pt x="10218039" y="0"/>
                  </a:lnTo>
                  <a:cubicBezTo>
                    <a:pt x="10522077" y="0"/>
                    <a:pt x="10768711" y="243840"/>
                    <a:pt x="10768711" y="544957"/>
                  </a:cubicBezTo>
                  <a:lnTo>
                    <a:pt x="10762361" y="544957"/>
                  </a:lnTo>
                  <a:lnTo>
                    <a:pt x="10768711" y="544957"/>
                  </a:lnTo>
                  <a:lnTo>
                    <a:pt x="10762361" y="544957"/>
                  </a:lnTo>
                  <a:lnTo>
                    <a:pt x="10768711" y="544957"/>
                  </a:lnTo>
                  <a:cubicBezTo>
                    <a:pt x="10768711" y="845947"/>
                    <a:pt x="10522077" y="1089914"/>
                    <a:pt x="10218039" y="1089914"/>
                  </a:cubicBezTo>
                  <a:lnTo>
                    <a:pt x="10218039" y="1083564"/>
                  </a:lnTo>
                  <a:lnTo>
                    <a:pt x="10218039" y="1089914"/>
                  </a:lnTo>
                  <a:lnTo>
                    <a:pt x="550672" y="1089914"/>
                  </a:lnTo>
                  <a:lnTo>
                    <a:pt x="550672" y="1083564"/>
                  </a:lnTo>
                  <a:lnTo>
                    <a:pt x="550672" y="1089914"/>
                  </a:lnTo>
                  <a:cubicBezTo>
                    <a:pt x="246634" y="1089787"/>
                    <a:pt x="0" y="845947"/>
                    <a:pt x="0" y="544957"/>
                  </a:cubicBezTo>
                  <a:lnTo>
                    <a:pt x="6350" y="544957"/>
                  </a:lnTo>
                  <a:lnTo>
                    <a:pt x="0" y="544957"/>
                  </a:lnTo>
                  <a:moveTo>
                    <a:pt x="12700" y="544957"/>
                  </a:moveTo>
                  <a:lnTo>
                    <a:pt x="6350" y="544957"/>
                  </a:lnTo>
                  <a:lnTo>
                    <a:pt x="12700" y="544957"/>
                  </a:lnTo>
                  <a:cubicBezTo>
                    <a:pt x="12700" y="838835"/>
                    <a:pt x="253492" y="1077087"/>
                    <a:pt x="550672" y="1077087"/>
                  </a:cubicBezTo>
                  <a:lnTo>
                    <a:pt x="10218039" y="1077087"/>
                  </a:lnTo>
                  <a:cubicBezTo>
                    <a:pt x="10515219" y="1077087"/>
                    <a:pt x="10756011" y="838708"/>
                    <a:pt x="10756011" y="544830"/>
                  </a:cubicBezTo>
                  <a:cubicBezTo>
                    <a:pt x="10756011" y="250952"/>
                    <a:pt x="10515092" y="12700"/>
                    <a:pt x="10218039" y="12700"/>
                  </a:cubicBezTo>
                  <a:lnTo>
                    <a:pt x="550672" y="12700"/>
                  </a:lnTo>
                  <a:lnTo>
                    <a:pt x="550672" y="6350"/>
                  </a:lnTo>
                  <a:lnTo>
                    <a:pt x="550672" y="12700"/>
                  </a:lnTo>
                  <a:cubicBezTo>
                    <a:pt x="253492" y="12700"/>
                    <a:pt x="12700" y="251079"/>
                    <a:pt x="12700" y="544957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3109972" y="5803106"/>
            <a:ext cx="403917" cy="403917"/>
          </a:xfrm>
          <a:custGeom>
            <a:avLst/>
            <a:gdLst/>
            <a:ahLst/>
            <a:cxnLst/>
            <a:rect r="r" b="b" t="t" l="l"/>
            <a:pathLst>
              <a:path h="403917" w="403917">
                <a:moveTo>
                  <a:pt x="0" y="0"/>
                </a:moveTo>
                <a:lnTo>
                  <a:pt x="403917" y="0"/>
                </a:lnTo>
                <a:lnTo>
                  <a:pt x="403917" y="403917"/>
                </a:lnTo>
                <a:lnTo>
                  <a:pt x="0" y="403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325" t="0" r="-2327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547774" y="6640268"/>
            <a:ext cx="5833320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Facade (XML kezelés)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47774" y="7165334"/>
            <a:ext cx="7528474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Egyszerű interfész a komplex fájlkezelési alrendszerhez.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527" y="8168430"/>
            <a:ext cx="16402945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A projektünkben alkalmazott tervezési minták és OOP elvek eredményeként a kód tiszta, könnyen tesztelhető és a </a:t>
            </a:r>
            <a:r>
              <a:rPr lang="en-US" sz="2062" b="true">
                <a:solidFill>
                  <a:srgbClr val="D7E5D8"/>
                </a:solidFill>
                <a:latin typeface="Arimo Bold"/>
                <a:ea typeface="Arimo Bold"/>
                <a:cs typeface="Arimo Bold"/>
                <a:sym typeface="Arimo Bold"/>
              </a:rPr>
              <a:t>SOLID elvek</a:t>
            </a:r>
            <a:r>
              <a:rPr lang="en-US" sz="2062">
                <a:solidFill>
                  <a:srgbClr val="D7E5D8"/>
                </a:solidFill>
                <a:latin typeface="Arimo"/>
                <a:ea typeface="Arimo"/>
                <a:cs typeface="Arimo"/>
                <a:sym typeface="Arimo"/>
              </a:rPr>
              <a:t> szerint bővíthetővé vált.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2025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544043"/>
          </a:xfrm>
          <a:custGeom>
            <a:avLst/>
            <a:gdLst/>
            <a:ahLst/>
            <a:cxnLst/>
            <a:rect r="r" b="b" t="t" l="l"/>
            <a:pathLst>
              <a:path h="3544043" w="18288000">
                <a:moveTo>
                  <a:pt x="0" y="0"/>
                </a:moveTo>
                <a:lnTo>
                  <a:pt x="18288000" y="0"/>
                </a:lnTo>
                <a:lnTo>
                  <a:pt x="18288000" y="3544043"/>
                </a:lnTo>
                <a:lnTo>
                  <a:pt x="0" y="3544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t="0" r="-1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2238" y="5038573"/>
            <a:ext cx="16303523" cy="179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7"/>
              </a:lnSpc>
            </a:pPr>
            <a:r>
              <a:rPr lang="en-US" sz="11124" b="true">
                <a:solidFill>
                  <a:srgbClr val="F0F4F1"/>
                </a:solidFill>
                <a:latin typeface="Arimo Bold"/>
                <a:ea typeface="Arimo Bold"/>
                <a:cs typeface="Arimo Bold"/>
                <a:sym typeface="Arimo Bold"/>
              </a:rPr>
              <a:t>Köszönöm a figyelmet!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DAG72m0lXHU</dc:identifier>
  <dcterms:modified xsi:type="dcterms:W3CDTF">2011-08-01T06:04:30Z</dcterms:modified>
  <cp:revision>1</cp:revision>
  <dc:title>Tervezesi-mintak-egy-objektumorientalt-programozasi-nyelvben.pptx</dc:title>
</cp:coreProperties>
</file>